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632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slide. Mention: insurance underwriting framing, 1.1M rows, 4 models, calibration, SHAP, and Streamlit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framing: this is a Stage 1 hazard scoring model. Industry uses: P&amp;C pricing, reinsurance PML, cat models, government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= hazard. This project stops there deliberately. Emphasise: this is the first and most critical input to any cat model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pipeline. Each box is a notebook or deliverable. Emphasise: professional folder structure, reproducible, model saved as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is synthetic but generated from real-world flood risk science. Highlight: no missing values, no normalisation needed for tree models, consistent ordinal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plots on this slide. Top: target is well-behaved, RMSE is fair. Bottom: near-zero inter-feature correlations is the single most important EDA finding — motivates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feature distributions — colour coded by group (blue=natural, green=infra, orange=socio). Bottom: scatter plots confirm weak individual r≈0.19 for top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r=0.93 jump from 0.19 is the headline feature engineering result. Explain the polling analogy. Mention the three composite domain scores as scientifically grounded domain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model and why it was chosen. Key comparison: RF vs XGBoost (parallel vs sequential). Key finding: MLP loses on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numbers: XGBoost RMSE=0.01857, R²=0.867. The chart shows all four models sorted. Biggest gap is Ridge→RF. XGB vs RF gap is tiny. MLP sits between.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RMSE=0.01857 means typical error of ~4-5% of the full range. R²=0.867 means 86.7% of variance explained. CV std=±0.001 confirms zero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two key differentiators. Reliability diagram: x=mean predicted per bin, y=mean actual. Diagonal = perfect. Our model is already well-calibrated — we verified rather than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SHAP outputs: beeswarm (global: which features matter most, which direction) and waterfall (local: why did THIS location get THIS score). SHAP is required for regulatory explainability in insurance.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left: SHAP vs RF importance comparison. Top right: why SHAP is superior. Bottom: three-panel residual analysis showing no bias and expected heteroscedasticity in 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has 4 tabs. Key feature: Insurance View tab shows automated underwriting decision + scenario comparison + mitigation table. Scenario loader presets 4 risk levels. Demo: load 'very high risk' scenario, show SHAP tab to explain the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Six takeaways. Emphasise: feature engineering result (r=0.93), calibration story, SHAP regulatory angle, dashboard demo-readiness, and industry career 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378ADD">
              <a:alpha val="12000"/>
            </a:srgbClr>
          </a:solidFill>
          <a:ln w="12700">
            <a:solidFill>
              <a:srgbClr val="378AD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731520"/>
            <a:ext cx="1828800" cy="18288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RISK SCORING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Machine Learning Framework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Insurance Underwriting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· Calibrated probability outputs · SHAP explainability · Interactive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2461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D9E75">
              <a:alpha val="22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3730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40280" y="32461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D9E75">
              <a:alpha val="22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40280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40280" y="3730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features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86200" y="32461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D9E75">
              <a:alpha val="22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86200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86200" y="3730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32120" y="32461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D9E75">
              <a:alpha val="22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32120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32120" y="3730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78040" y="32461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D9E75">
              <a:alpha val="22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78040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3730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6634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Playground Series S4E5  ·  Python · XGBoost · SHAP · Optuna · Streamlit</a:t>
            </a:r>
            <a:endParaRPr lang="en-US" sz="9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76EFC118-1AF4-6DFA-E848-1D6BFF7B8FE5}"/>
              </a:ext>
            </a:extLst>
          </p:cNvPr>
          <p:cNvSpPr/>
          <p:nvPr/>
        </p:nvSpPr>
        <p:spPr>
          <a:xfrm>
            <a:off x="2286001" y="4297680"/>
            <a:ext cx="52494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 </a:t>
            </a:r>
            <a:r>
              <a:rPr lang="en-US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Ashifa</a:t>
            </a:r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Haneef and Morenike Adesina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solve?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 insurer binds a flood policy — for a home, building, or farm — it must answer one question: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AF4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AF4EF"/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likely is this location to flood — and is that risk high enough to charge more, add exclusions, or decline the policy?"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answers that question at scale — scoring millions of locations with a calibrated flood probability.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EAF4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P&amp;C Insurers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52928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flood policies at quote time. Identify high-risk concentrations in portfolio.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23744" y="251460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E8F1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23744" y="25146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23744" y="2514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Reinsurers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15184" y="2852928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probable maximum losses. Price catastrophe reinsurance treaties.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81728" y="251460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DECE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81728" y="25146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81728" y="2514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Cat Model Firms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2852928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hazard layers for RMS / AIR / CoreLogic-style catastrophe models.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39712" y="251460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EF5E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39712" y="25146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39712" y="2514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Gov't &amp; Dev Banks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31152" y="2852928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climate risk in infrastructure lending and planning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Value Chain — Where This Model Fits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Catastrophe insurance pricing has 5 stages. This model builds Stage 1 — the hazard scoring layer.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D9E7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Scoring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flooding?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536192"/>
            <a:ext cx="164592" cy="54864"/>
          </a:xfrm>
          <a:prstGeom prst="rect">
            <a:avLst/>
          </a:prstGeom>
          <a:solidFill>
            <a:srgbClr val="BBCDD9"/>
          </a:solidFill>
          <a:ln w="12700">
            <a:solidFill>
              <a:srgbClr val="BBC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19656" y="147218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93392" y="1115568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93392" y="1115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93392" y="1481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93392" y="1810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E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the insured asset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56432" y="1536192"/>
            <a:ext cx="164592" cy="54864"/>
          </a:xfrm>
          <a:prstGeom prst="rect">
            <a:avLst/>
          </a:prstGeom>
          <a:solidFill>
            <a:srgbClr val="BBCDD9"/>
          </a:solidFill>
          <a:ln w="12700">
            <a:solidFill>
              <a:srgbClr val="BBC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47288" y="147218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21024" y="1115568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21024" y="1115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21024" y="1481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21024" y="1810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E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given a flood occurs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84064" y="1536192"/>
            <a:ext cx="164592" cy="54864"/>
          </a:xfrm>
          <a:prstGeom prst="rect">
            <a:avLst/>
          </a:prstGeom>
          <a:solidFill>
            <a:srgbClr val="BBCDD9"/>
          </a:solidFill>
          <a:ln w="12700">
            <a:solidFill>
              <a:srgbClr val="BBC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147218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48656" y="1115568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48656" y="1115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48656" y="1481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Estimation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48656" y="1810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E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annual loss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11696" y="1536192"/>
            <a:ext cx="164592" cy="54864"/>
          </a:xfrm>
          <a:prstGeom prst="rect">
            <a:avLst/>
          </a:prstGeom>
          <a:solidFill>
            <a:srgbClr val="BBCDD9"/>
          </a:solidFill>
          <a:ln w="12700">
            <a:solidFill>
              <a:srgbClr val="BBC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02552" y="147218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76288" y="1115568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76288" y="1115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76288" y="1481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76288" y="1810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E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loss + risk load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176272"/>
            <a:ext cx="1463040" cy="228600"/>
          </a:xfrm>
          <a:prstGeom prst="roundRect">
            <a:avLst>
              <a:gd name="adj" fmla="val 16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21762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THIS PROJECT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2542032"/>
            <a:ext cx="2706624" cy="2331720"/>
          </a:xfrm>
          <a:prstGeom prst="roundRect">
            <a:avLst>
              <a:gd name="adj" fmla="val 3137"/>
            </a:avLst>
          </a:prstGeom>
          <a:solidFill>
            <a:srgbClr val="EAF4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2542032"/>
            <a:ext cx="2706624" cy="274320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254203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takes as input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2852928"/>
            <a:ext cx="25237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ordinal risk scores covering natural hazard, human infrastructure quality, and socioeconomic vulnerability. All available without site visits.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18688" y="2542032"/>
            <a:ext cx="2706624" cy="2331720"/>
          </a:xfrm>
          <a:prstGeom prst="roundRect">
            <a:avLst>
              <a:gd name="adj" fmla="val 3137"/>
            </a:avLst>
          </a:prstGeom>
          <a:solidFill>
            <a:srgbClr val="E8F1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18688" y="2542032"/>
            <a:ext cx="2706624" cy="274320"/>
          </a:xfrm>
          <a:prstGeom prst="roundRect">
            <a:avLst>
              <a:gd name="adj" fmla="val 20000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18688" y="254203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outputs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10128" y="2852928"/>
            <a:ext cx="25237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flood probability score (0–1). Can be used directly to tier locations into Low / Moderate / High / Very High risk bands.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71616" y="2542032"/>
            <a:ext cx="2706624" cy="2331720"/>
          </a:xfrm>
          <a:prstGeom prst="roundRect">
            <a:avLst>
              <a:gd name="adj" fmla="val 3137"/>
            </a:avLst>
          </a:prstGeom>
          <a:solidFill>
            <a:srgbClr val="FEF5E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071616" y="2542032"/>
            <a:ext cx="2706624" cy="274320"/>
          </a:xfrm>
          <a:prstGeom prst="roundRect">
            <a:avLst>
              <a:gd name="adj" fmla="val 20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71616" y="254203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 (out of scope)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63056" y="2852928"/>
            <a:ext cx="25237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and vulnerability models combine with the hazard score to estimate expected losses, which actuaries convert to premium.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 — End-to-End ML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325880" cy="32918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46304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90195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Download 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24942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GitHub repo init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596896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Folder structure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1D9E75">
              <a:alpha val="18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361188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23317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83080" y="914400"/>
            <a:ext cx="1325880" cy="32918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83080" y="91440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83080" y="914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56232" y="146304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92808" y="190195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Target distribution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92808" y="224942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Correlation heatmap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92808" y="2596896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Feature vs target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84248" y="3611880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84248" y="361188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1.5h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08960" y="23317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914400"/>
            <a:ext cx="1325880" cy="32918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91440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0" y="914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73552" y="146304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190195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Domain composites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10128" y="224942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Interaction terms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10128" y="2596896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TotalRiskScore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01568" y="3611880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7F77DD">
              <a:alpha val="18000"/>
            </a:srgbClr>
          </a:solidFill>
          <a:ln w="12700">
            <a:solidFill>
              <a:srgbClr val="7F77D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01568" y="361188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1.5h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26280" y="23317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17720" y="914400"/>
            <a:ext cx="1325880" cy="32918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17720" y="91440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17720" y="914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90872" y="146304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27448" y="190195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Ridge · RF · XGBoost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27448" y="224942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MLP · Optuna tuning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18888" y="3611880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D85A30">
              <a:alpha val="18000"/>
            </a:srgbClr>
          </a:solidFill>
          <a:ln w="12700">
            <a:solidFill>
              <a:srgbClr val="D85A3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18888" y="361188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2.5h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0" y="23317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035040" y="914400"/>
            <a:ext cx="1325880" cy="32918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035040" y="91440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35040" y="914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08192" y="146304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44768" y="190195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5-fold CV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44768" y="224942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Calibration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44768" y="2596896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SHAP · Residuals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36208" y="3611880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BA7517">
              <a:alpha val="18000"/>
            </a:srgbClr>
          </a:solidFill>
          <a:ln w="12700">
            <a:solidFill>
              <a:srgbClr val="BA75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36208" y="361188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60920" y="23317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452360" y="914400"/>
            <a:ext cx="1325880" cy="32918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452360" y="91440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452360" y="914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525512" y="146304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562088" y="190195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README + model card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562088" y="224942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Streamlit dashboard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562088" y="2596896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GitHub push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653528" y="3611880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888780">
              <a:alpha val="18000"/>
            </a:srgbClr>
          </a:solidFill>
          <a:ln w="12700">
            <a:solidFill>
              <a:srgbClr val="8887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653528" y="361188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1.5h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4315968"/>
            <a:ext cx="8412480" cy="201168"/>
          </a:xfrm>
          <a:prstGeom prst="roundRect">
            <a:avLst>
              <a:gd name="adj" fmla="val 27273"/>
            </a:avLst>
          </a:prstGeom>
          <a:solidFill>
            <a:srgbClr val="E0E8E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65760" y="4315968"/>
            <a:ext cx="841248" cy="20116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207008" y="4315968"/>
            <a:ext cx="1261872" cy="201168"/>
          </a:xfrm>
          <a:prstGeom prst="rect">
            <a:avLst/>
          </a:prstGeom>
          <a:solidFill>
            <a:srgbClr val="378ADD">
              <a:alpha val="80000"/>
            </a:srgbClr>
          </a:solidFill>
          <a:ln w="12700">
            <a:solidFill>
              <a:srgbClr val="378A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468880" y="4315968"/>
            <a:ext cx="1261872" cy="201168"/>
          </a:xfrm>
          <a:prstGeom prst="rect">
            <a:avLst/>
          </a:prstGeom>
          <a:solidFill>
            <a:srgbClr val="7F77DD">
              <a:alpha val="80000"/>
            </a:srgbClr>
          </a:solidFill>
          <a:ln w="12700">
            <a:solidFill>
              <a:srgbClr val="7F77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730752" y="4315968"/>
            <a:ext cx="2103120" cy="201168"/>
          </a:xfrm>
          <a:prstGeom prst="rect">
            <a:avLst/>
          </a:prstGeom>
          <a:solidFill>
            <a:srgbClr val="D85A30">
              <a:alpha val="80000"/>
            </a:srgbClr>
          </a:solidFill>
          <a:ln w="12700">
            <a:solidFill>
              <a:srgbClr val="D85A3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833872" y="4315968"/>
            <a:ext cx="1682496" cy="201168"/>
          </a:xfrm>
          <a:prstGeom prst="rect">
            <a:avLst/>
          </a:prstGeom>
          <a:solidFill>
            <a:srgbClr val="BA7517">
              <a:alpha val="80000"/>
            </a:srgbClr>
          </a:solidFill>
          <a:ln w="12700">
            <a:solidFill>
              <a:srgbClr val="BA751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516368" y="4315968"/>
            <a:ext cx="1261872" cy="201168"/>
          </a:xfrm>
          <a:prstGeom prst="rect">
            <a:avLst/>
          </a:prstGeom>
          <a:solidFill>
            <a:srgbClr val="888780">
              <a:alpha val="80000"/>
            </a:srgbClr>
          </a:solidFill>
          <a:ln w="12700">
            <a:solidFill>
              <a:srgbClr val="88878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65760" y="43159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 hours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— Kaggle Playground Series S4E5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0B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1,117,957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1133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20824" y="749808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0B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20824" y="74980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020824" y="1133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21608" y="749808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0B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21608" y="74980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21608" y="1133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22392" y="749808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0B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22392" y="74980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22392" y="1133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23176" y="749808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0B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23176" y="74980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0.87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23176" y="1133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benchmark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1508760"/>
            <a:ext cx="2743200" cy="3364992"/>
          </a:xfrm>
          <a:prstGeom prst="roundRect">
            <a:avLst>
              <a:gd name="adj" fmla="val 2667"/>
            </a:avLst>
          </a:prstGeom>
          <a:solidFill>
            <a:srgbClr val="E8F1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150876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15087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Natural / Climate (6)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18745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MonsoonIntensity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2258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TopographyDrainage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9768" y="264261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ClimateChange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" y="302666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CoastalVulnerability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9768" y="34107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Landslides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9768" y="37947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Watersheds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64408" y="1508760"/>
            <a:ext cx="2743200" cy="3364992"/>
          </a:xfrm>
          <a:prstGeom prst="roundRect">
            <a:avLst>
              <a:gd name="adj" fmla="val 2667"/>
            </a:avLst>
          </a:prstGeom>
          <a:solidFill>
            <a:srgbClr val="EAF4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64408" y="150876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64408" y="15087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Human / Infrastructure (8)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74136" y="18745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Deforestation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74136" y="2258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Urbanization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74136" y="264261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RiverManagement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74136" y="302666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DamsQuality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74136" y="34107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DrainageSystems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74136" y="37947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DeterioratingInfrastructure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74136" y="41788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Siltation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74136" y="45628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Encroachments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08776" y="1508760"/>
            <a:ext cx="2743200" cy="3364992"/>
          </a:xfrm>
          <a:prstGeom prst="roundRect">
            <a:avLst>
              <a:gd name="adj" fmla="val 2667"/>
            </a:avLst>
          </a:prstGeom>
          <a:solidFill>
            <a:srgbClr val="FDECE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08776" y="150876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08776" y="15087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Socio-political (6)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18504" y="18745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PopulationScore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18504" y="2258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AgriculturalPractices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18504" y="264261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WetlandLoss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18504" y="302666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PoliticalFactors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18504" y="34107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InadequatePlanning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18504" y="37947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IneffectiveDisasterPreparedness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4709160"/>
            <a:ext cx="8503920" cy="256032"/>
          </a:xfrm>
          <a:prstGeom prst="roundRect">
            <a:avLst>
              <a:gd name="adj" fmla="val 21429"/>
            </a:avLst>
          </a:prstGeom>
          <a:solidFill>
            <a:srgbClr val="FEF5E7"/>
          </a:solidFill>
          <a:ln w="12700">
            <a:solidFill>
              <a:srgbClr val="BA75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1148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FloodProbability (continuous, 0–1) · mean = 0.504 · near-normal distribution · 0 missing values · all features are ordinal integers on 1–15 scale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Target Distribution &amp; Correlation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2/images/1781456865581_01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95528"/>
            <a:ext cx="5029200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749808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577840" y="749808"/>
            <a:ext cx="3291840" cy="256032"/>
          </a:xfrm>
          <a:prstGeom prst="roundRect">
            <a:avLst>
              <a:gd name="adj" fmla="val 2142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749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Near-normal distribution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87568" y="1024128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0.504. Symmetric shape means RMSE penalises over- and under-predictions equally — a fair metric.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1737360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1737360"/>
            <a:ext cx="3291840" cy="256032"/>
          </a:xfrm>
          <a:prstGeom prst="roundRect">
            <a:avLst>
              <a:gd name="adj" fmla="val 21429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77840" y="1737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imbalance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87568" y="2011680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spread evenly from 0.30 to 0.73. No need to balance classes or transform the target.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2724912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77840" y="2724912"/>
            <a:ext cx="3291840" cy="256032"/>
          </a:xfrm>
          <a:prstGeom prst="roundRect">
            <a:avLst>
              <a:gd name="adj" fmla="val 2142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77840" y="2724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EDA first?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687568" y="2999232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tells you which modelling choices are valid. Without checking the target, you might choose the wrong metric or transform.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" y="2944368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1" descr="/home/claude/ppt2/images/1781456865585_03_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90088"/>
            <a:ext cx="5029200" cy="18745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577840" y="2944368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1A32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EDA FINDING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687568" y="329184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pairwise feature correlations ≈ −0.01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687568" y="3584448"/>
            <a:ext cx="30723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statistically independent of each other. No single factor tells the whole story — the combined effect of all 20 is what predicts flood risk.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why ensemble methods (RF, XGBoost) are needed over linear regression.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why TotalRiskScore (sum of all 20) becomes the strongest predictor at r = 0.93.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Feature Distributions &amp; Feature vs Target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2/images/1781456865584_02_feature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95528"/>
            <a:ext cx="5120640" cy="2514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456432"/>
            <a:ext cx="5212080" cy="1481328"/>
          </a:xfrm>
          <a:prstGeom prst="roundRect">
            <a:avLst>
              <a:gd name="adj" fmla="val 493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ppt2/images/1781456865585_04_feature_vs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02152"/>
            <a:ext cx="5120640" cy="138988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69280" y="749808"/>
            <a:ext cx="3200400" cy="950976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724144" y="1042416"/>
            <a:ext cx="347472" cy="34747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163056" y="749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features share a 1–15 scale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163056" y="111556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normalisation needed for tree models. Consistent range means feature magnitude doesn't mislead the model.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669280" y="1792224"/>
            <a:ext cx="3200400" cy="950976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724144" y="2084832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163056" y="17922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163056" y="2157984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peak at 3–5 with a long tail to 15. Higher values = worse risk conditions in every case.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669280" y="2834640"/>
            <a:ext cx="3200400" cy="950976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724144" y="3127248"/>
            <a:ext cx="347472" cy="347472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163056" y="28346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correlations r ≈ 0.19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163056" y="320040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features (DeterioratingInfrastructure, MonsoonIntensity, DamsQuality...) all have the same weak individual signal.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669280" y="3877056"/>
            <a:ext cx="3200400" cy="950976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724144" y="4169664"/>
            <a:ext cx="347472" cy="34747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163056" y="38770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163056" y="4242816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best single feature barely predicts flood probability alone. The model needs all 20 simultaneously — confirmed by TotalRiskScore r=0.93.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Domain Knowledge Encoded in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engineer features? Individual signals r≈0.19 are weak. Combining them in scientifically meaningful ways amplifies the signal.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pt2/images/1781456865586_05_engineered_feature_cor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24712"/>
            <a:ext cx="493776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1078992"/>
            <a:ext cx="33375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59552" y="1243584"/>
            <a:ext cx="329184" cy="32918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80176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TotalRiskScore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11312" y="1097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0.93 ★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80176" y="140817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20 features. Signal aggregation cancels noise, amplifies flood risk signal.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1856232"/>
            <a:ext cx="33375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559552" y="2020824"/>
            <a:ext cx="329184" cy="32918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0176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InfraRisk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211312" y="1874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80176" y="218541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8 infrastructure features. Infrastructure risk domain composite score.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2633472"/>
            <a:ext cx="33375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559552" y="2798064"/>
            <a:ext cx="329184" cy="329184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80176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NaturalRisk / SocioRisk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211312" y="2651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0.45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80176" y="296265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natural/climate and socio-political features respectively.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0" y="3410712"/>
            <a:ext cx="33375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559552" y="3575304"/>
            <a:ext cx="329184" cy="329184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980176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× Urbanization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211312" y="3429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980176" y="373989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flash flood: heavy rain on impermeable surfaces compounds risk.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86400" y="4187952"/>
            <a:ext cx="33375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559552" y="4352544"/>
            <a:ext cx="329184" cy="329184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980176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 × Landslides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211312" y="4206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0.25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980176" y="451713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degradation: deforested slopes are more prone to slides damming rivers.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20040" y="4187952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1A32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02920" y="4224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Why does TotalRiskScore jump from r=0.19 to r=0.93?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reason opinion polls work: averaging 1,000 independent noisy signals cancels random errors while the shared signal (true risk) accumulates. Each feature adds a small amount of independent information about flood risk — summed together, the noise cancels and the signal dominates.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— What They Are &amp; Why Each Was Chosen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E8F1FB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206240" cy="292608"/>
          </a:xfrm>
          <a:prstGeom prst="roundRect">
            <a:avLst>
              <a:gd name="adj" fmla="val 18750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74980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Ridge Regression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078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2618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features with regularisation (L2 penalty). Linear model.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755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19385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performance floor. Interpretable coefficients tell us exactly how much each feature contributes. If complex models can't beat it significantly, they aren't worth the added complexity.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441448"/>
            <a:ext cx="3986784" cy="201168"/>
          </a:xfrm>
          <a:prstGeom prst="roundRect">
            <a:avLst>
              <a:gd name="adj" fmla="val 18182"/>
            </a:avLst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" y="244144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Produces readable β coefficients per feature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27448" y="749808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EEEDFE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27448" y="749808"/>
            <a:ext cx="4206240" cy="292608"/>
          </a:xfrm>
          <a:prstGeom prst="roundRect">
            <a:avLst>
              <a:gd name="adj" fmla="val 18750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74980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Random Forest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37176" y="1078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7176" y="12618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decision trees trained on random subsets of data and features. Predictions = average of all trees.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37176" y="1755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37176" y="19385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 that Ridge misses. Out-Of-Bag (OOB) error is a free validation estimate from the bootstrap sampling — no separate test set needed.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37176" y="2441448"/>
            <a:ext cx="3986784" cy="201168"/>
          </a:xfrm>
          <a:prstGeom prst="roundRect">
            <a:avLst>
              <a:gd name="adj" fmla="val 18182"/>
            </a:avLst>
          </a:prstGeom>
          <a:solidFill>
            <a:srgbClr val="7F77DD">
              <a:alpha val="18000"/>
            </a:srgbClr>
          </a:solidFill>
          <a:ln w="12700">
            <a:solidFill>
              <a:srgbClr val="7F77D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244144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OOB score ≈ CV score — confirms no data leakage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898648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EAF4E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2898648"/>
            <a:ext cx="4206240" cy="292608"/>
          </a:xfrm>
          <a:prstGeom prst="roundRect">
            <a:avLst>
              <a:gd name="adj" fmla="val 1875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3192" y="28986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XGBoost + Optuna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9768" y="32278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" y="34107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boosting: each tree corrects errors of all previous trees. 50 Optuna trials tuned learning rate, depth, subsample, and regularisation.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9768" y="39044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" y="40873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for tabular data. Sequential error correction typically outperforms parallel bagging. Optuna's Bayesian search finds better hyperparameters faster than grid search.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9768" y="4590288"/>
            <a:ext cx="3986784" cy="201168"/>
          </a:xfrm>
          <a:prstGeom prst="roundRect">
            <a:avLst>
              <a:gd name="adj" fmla="val 18182"/>
            </a:avLst>
          </a:prstGeom>
          <a:solidFill>
            <a:srgbClr val="1D9E75">
              <a:alpha val="18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9768" y="459028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 Optuna trials ≈ 5 minutes on 1.1M rows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27448" y="2898648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DECEA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27448" y="2898648"/>
            <a:ext cx="4206240" cy="292608"/>
          </a:xfrm>
          <a:prstGeom prst="roundRect">
            <a:avLst>
              <a:gd name="adj" fmla="val 1875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28986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MLP Neural Network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37176" y="32278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7176" y="34107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hidden layers (128→64→32 neurons), ReLU activation, early stopping. Features are scaled before input.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37176" y="39044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37176" y="40873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deep learning adds value over gradient boosting on this tabular dataset. Result: it doesn't — consistent with the broader ML literature on structured data.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37176" y="4590288"/>
            <a:ext cx="3986784" cy="201168"/>
          </a:xfrm>
          <a:prstGeom prst="roundRect">
            <a:avLst>
              <a:gd name="adj" fmla="val 18182"/>
            </a:avLst>
          </a:prstGeom>
          <a:solidFill>
            <a:srgbClr val="D85A30">
              <a:alpha val="18000"/>
            </a:srgbClr>
          </a:solidFill>
          <a:ln w="12700">
            <a:solidFill>
              <a:srgbClr val="D85A3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37176" y="459028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MLP underperforms XGBoost — known tabular pattern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— Performance Leaderboard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2/images/1781456865587_06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95528"/>
            <a:ext cx="512064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749808"/>
            <a:ext cx="3200400" cy="310896"/>
          </a:xfrm>
          <a:prstGeom prst="roundRect">
            <a:avLst>
              <a:gd name="adj" fmla="val 17647"/>
            </a:avLst>
          </a:prstGeom>
          <a:solidFill>
            <a:srgbClr val="0B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87568" y="7498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42048" y="7498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73568" y="74980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67928" y="74980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0" y="1097280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724144" y="1243584"/>
            <a:ext cx="310896" cy="310896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08192" y="109728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351776" y="1097280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0.02008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46720" y="109728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0.845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577072" y="109728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0.845±0.001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669280" y="1810512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24144" y="1956816"/>
            <a:ext cx="310896" cy="31089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08192" y="1810512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Neural Net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351776" y="1810512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0.01897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046720" y="181051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0.862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577072" y="18105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0.858±0.001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669280" y="2523744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724144" y="2670048"/>
            <a:ext cx="310896" cy="310896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108192" y="2523744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351776" y="2523744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0.01860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046720" y="252374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0.867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77072" y="252374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0.866±0.001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669280" y="3236976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EAF4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724144" y="3383280"/>
            <a:ext cx="310896" cy="3108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08192" y="3236976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★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351776" y="3236976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0.01857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046720" y="323697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0.867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577072" y="323697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0.866±0.001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20040" y="3767328"/>
            <a:ext cx="270662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320040" y="3767328"/>
            <a:ext cx="2706624" cy="256032"/>
          </a:xfrm>
          <a:prstGeom prst="roundRect">
            <a:avLst>
              <a:gd name="adj" fmla="val 2142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20040" y="3767328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≈ Random Forest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11480" y="4059936"/>
            <a:ext cx="2523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difference is 0.00003 — negligible. Both achieve R²=0.867. Gradient boosting wins but only marginally.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172968" y="3767328"/>
            <a:ext cx="270662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3172968" y="3767328"/>
            <a:ext cx="2706624" cy="256032"/>
          </a:xfrm>
          <a:prstGeom prst="roundRect">
            <a:avLst>
              <a:gd name="adj" fmla="val 21429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172968" y="3767328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loses on tabular data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3264408" y="4059936"/>
            <a:ext cx="2523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empirical pattern. Trees exploit the discrete ordinal structure better than gradient-based optimisation in neural nets.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025896" y="3767328"/>
            <a:ext cx="270662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025896" y="3767328"/>
            <a:ext cx="2706624" cy="256032"/>
          </a:xfrm>
          <a:prstGeom prst="roundRect">
            <a:avLst>
              <a:gd name="adj" fmla="val 21429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025896" y="3767328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baseline is strong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117336" y="4059936"/>
            <a:ext cx="2523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R²=0.845 shows the problem has a partially linear structure. The non-linear gain from ensemble methods is real but modest.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What the Metrics Mean in Practice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89120" cy="1335024"/>
          </a:xfrm>
          <a:prstGeom prst="roundRect">
            <a:avLst>
              <a:gd name="adj" fmla="val 5479"/>
            </a:avLst>
          </a:prstGeom>
          <a:solidFill>
            <a:srgbClr val="EAF4E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389120" cy="292608"/>
          </a:xfrm>
          <a:prstGeom prst="roundRect">
            <a:avLst>
              <a:gd name="adj" fmla="val 1875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749808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0.01857  ·  Root Mean Squared Error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9768" y="1078992"/>
            <a:ext cx="4169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off by an average of ±0.019 flood probability units. Since the target ranges 0.30–0.73, this is a typical error of ~4–5% of the full range. Very accurate for a real-world risk model.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4389120" cy="1335024"/>
          </a:xfrm>
          <a:prstGeom prst="roundRect">
            <a:avLst>
              <a:gd name="adj" fmla="val 5479"/>
            </a:avLst>
          </a:prstGeom>
          <a:solidFill>
            <a:srgbClr val="E8F1FB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4389120" cy="292608"/>
          </a:xfrm>
          <a:prstGeom prst="roundRect">
            <a:avLst>
              <a:gd name="adj" fmla="val 18750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2176272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0.867  ·  Coefficient of Determination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505456"/>
            <a:ext cx="4169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86.7% of the variation in flood probability across 1.1M locations. The remaining 13.3% is either random noise or factors not captured in the 20 features.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602736"/>
            <a:ext cx="4389120" cy="1335024"/>
          </a:xfrm>
          <a:prstGeom prst="roundRect">
            <a:avLst>
              <a:gd name="adj" fmla="val 5479"/>
            </a:avLst>
          </a:prstGeom>
          <a:solidFill>
            <a:srgbClr val="EEEDFE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602736"/>
            <a:ext cx="4389120" cy="292608"/>
          </a:xfrm>
          <a:prstGeom prst="roundRect">
            <a:avLst>
              <a:gd name="adj" fmla="val 18750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3602736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 = ±0.001  ·  5-fold Cross-validation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3931920"/>
            <a:ext cx="4169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of ±0.001 across 5 folds means the model performs virtually identically regardless of which 20% of data it is tested on. Near-zero variance = no overfitting.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749808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5-fold cross-validation?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188720"/>
            <a:ext cx="530352" cy="384048"/>
          </a:xfrm>
          <a:prstGeom prst="roundRect">
            <a:avLst>
              <a:gd name="adj" fmla="val 9524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74920" y="118872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678424" y="1188720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78424" y="118872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281928" y="1188720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81928" y="118872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885432" y="1188720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85432" y="118872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488936" y="1188720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88936" y="118872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156448" y="11887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R²=0.866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74920" y="1755648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175564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678424" y="1755648"/>
            <a:ext cx="530352" cy="384048"/>
          </a:xfrm>
          <a:prstGeom prst="roundRect">
            <a:avLst>
              <a:gd name="adj" fmla="val 9524"/>
            </a:avLst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78424" y="175564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281928" y="1755648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81928" y="175564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85432" y="1755648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85432" y="175564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488936" y="1755648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88936" y="175564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156448" y="175564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R²=0.867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74920" y="2322576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74920" y="2322576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678424" y="2322576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78424" y="2322576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281928" y="2322576"/>
            <a:ext cx="530352" cy="384048"/>
          </a:xfrm>
          <a:prstGeom prst="roundRect">
            <a:avLst>
              <a:gd name="adj" fmla="val 9524"/>
            </a:avLst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81928" y="2322576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885432" y="2322576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85432" y="2322576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488936" y="2322576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488936" y="2322576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156448" y="232257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R²=0.865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74920" y="2889504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74920" y="288950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678424" y="2889504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678424" y="288950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281928" y="2889504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81928" y="288950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885432" y="2889504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885432" y="288950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488936" y="2889504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488936" y="288950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156448" y="288950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R²=0.866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074920" y="3456432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074920" y="34564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678424" y="3456432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678424" y="34564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281928" y="3456432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281928" y="34564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885432" y="3456432"/>
            <a:ext cx="530352" cy="384048"/>
          </a:xfrm>
          <a:prstGeom prst="roundRect">
            <a:avLst>
              <a:gd name="adj" fmla="val 9524"/>
            </a:avLst>
          </a:prstGeom>
          <a:solidFill>
            <a:srgbClr val="D0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885432" y="34564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7488936" y="3456432"/>
            <a:ext cx="530352" cy="384048"/>
          </a:xfrm>
          <a:prstGeom prst="roundRect">
            <a:avLst>
              <a:gd name="adj" fmla="val 9524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488936" y="34564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8156448" y="345643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R²=0.867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07492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R² = 0.866 ± 0.001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074920" y="43159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CV? A single train/test split might be lucky or unlucky. 5-fold CV gives a stable, unbiased estimate of how the model performs on new unseen data — the number that matters for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 — Making Outputs Trustworthy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2/images/1781456865587_07_calibration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95528"/>
            <a:ext cx="539496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804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calibration?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188720"/>
            <a:ext cx="2926080" cy="1115568"/>
          </a:xfrm>
          <a:prstGeom prst="roundRect">
            <a:avLst>
              <a:gd name="adj" fmla="val 6557"/>
            </a:avLst>
          </a:prstGeom>
          <a:solidFill>
            <a:srgbClr val="FDECEA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0" y="1188720"/>
            <a:ext cx="2926080" cy="274320"/>
          </a:xfrm>
          <a:prstGeom prst="roundRect">
            <a:avLst>
              <a:gd name="adj" fmla="val 2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problem with raw outputs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53328" y="1499616"/>
            <a:ext cx="270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predicting 0.8 when the true rate is 0.65 causes mispricing. At 10,000 policies, a 15-point gap = £1.5M in mispriced premium per year.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43600" y="2423160"/>
            <a:ext cx="2926080" cy="1115568"/>
          </a:xfrm>
          <a:prstGeom prst="roundRect">
            <a:avLst>
              <a:gd name="adj" fmla="val 6557"/>
            </a:avLst>
          </a:prstGeom>
          <a:solidFill>
            <a:srgbClr val="EAF4E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43600" y="2423160"/>
            <a:ext cx="2926080" cy="274320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What calibration does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53328" y="2734056"/>
            <a:ext cx="270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regression maps raw scores to calibrated probabilities. Mean predicted = mean actual per bin. Verified with reliability diagram.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0" y="3657600"/>
            <a:ext cx="2926080" cy="1115568"/>
          </a:xfrm>
          <a:prstGeom prst="roundRect">
            <a:avLst>
              <a:gd name="adj" fmla="val 6557"/>
            </a:avLst>
          </a:prstGeom>
          <a:solidFill>
            <a:srgbClr val="FEF5E7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943600" y="3657600"/>
            <a:ext cx="2926080" cy="274320"/>
          </a:xfrm>
          <a:prstGeom prst="roundRect">
            <a:avLst>
              <a:gd name="adj" fmla="val 20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Our result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053328" y="3968496"/>
            <a:ext cx="270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is already well-calibrated on this dataset. Points track the diagonal closely before and after calibration — a positive validation result.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3858768"/>
            <a:ext cx="8503920" cy="1024128"/>
          </a:xfrm>
          <a:prstGeom prst="roundRect">
            <a:avLst>
              <a:gd name="adj" fmla="val 7143"/>
            </a:avLst>
          </a:prstGeom>
          <a:solidFill>
            <a:srgbClr val="0B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Portfolio differentiator #1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" y="415137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ML projects skip calibration. Showing a reliability diagram and explicitly applying isotonic regression demonstrates production-readiness thinking. In regulated industries like insurance, calibration verification is mandatory before model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— Why the Model Makes Each Decision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89120" cy="4133088"/>
          </a:xfrm>
          <a:prstGeom prst="roundRect">
            <a:avLst>
              <a:gd name="adj" fmla="val 1770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2/images/1781456865587_08_shap_bees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95528"/>
            <a:ext cx="4297680" cy="40416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749808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ppt2/images/1781456865588_10_shap_waterf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795528"/>
            <a:ext cx="3931920" cy="1874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46320" y="283464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919472" y="2980944"/>
            <a:ext cx="329184" cy="32918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340096" y="28712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 shows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340096" y="315468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each feature pushed THIS specific prediction above or below the baseline (0.504). Red dots = high feature value → increases risk.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846320" y="358444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919472" y="3730752"/>
            <a:ext cx="329184" cy="32918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340096" y="362102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TotalRiskScore dominates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340096" y="390448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stretch to ±0.15+. Other features cluster near zero. Confirms flood risk is approximately additive across all 20 factors.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846320" y="433425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919472" y="4480560"/>
            <a:ext cx="329184" cy="329184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340096" y="437083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= per-prediction explanation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340096" y="4654296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what drove one location's score. This is what an underwriting dashboard surfaces to an analyst — not a black box.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5084064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0B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937760" y="50840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Portfolio differentiator #2 — SHAP satisfies EU GDPR right to explanation for automated decisions (insurance)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vs Feature Importance &amp; Residual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2/images/1781456865588_09_shap_vs_rf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95528"/>
            <a:ext cx="411480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749808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1A32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SHAP beats built-in importance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0" y="1143000"/>
            <a:ext cx="3840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built-in importance</a:t>
            </a: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counts how often a feature is used for splits — biased toward features used early in trees and high-cardinality features.
</a:t>
            </a: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computes each feature's actual marginal contribution to each prediction. Based on Shapley values from cooperative game theory — provably fair, unbiased, and consistent.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regulated industries like insurance, SHAP satisfies the requirement to explain individual underwriting decisions to regulators and policyholders.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2880360"/>
            <a:ext cx="854964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ppt2/images/1781456865589_11_residual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26080"/>
            <a:ext cx="8458200" cy="19019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4937760"/>
            <a:ext cx="2706624" cy="228600"/>
          </a:xfrm>
          <a:prstGeom prst="roundRect">
            <a:avLst>
              <a:gd name="adj" fmla="val 16000"/>
            </a:avLst>
          </a:prstGeom>
          <a:solidFill>
            <a:srgbClr val="1D9E75">
              <a:alpha val="12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93192" y="4937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track actuals tightly — no systematic over/underestimation across the range.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172968" y="4937760"/>
            <a:ext cx="2706624" cy="228600"/>
          </a:xfrm>
          <a:prstGeom prst="roundRect">
            <a:avLst>
              <a:gd name="adj" fmla="val 16000"/>
            </a:avLst>
          </a:prstGeom>
          <a:solidFill>
            <a:srgbClr val="378ADD">
              <a:alpha val="12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246120" y="4937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residual = 0.0000 — the model is perfectly unbiased on average.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025896" y="4937760"/>
            <a:ext cx="2706624" cy="228600"/>
          </a:xfrm>
          <a:prstGeom prst="roundRect">
            <a:avLst>
              <a:gd name="adj" fmla="val 16000"/>
            </a:avLst>
          </a:prstGeom>
          <a:solidFill>
            <a:srgbClr val="BA7517">
              <a:alpha val="12000"/>
            </a:srgbClr>
          </a:solidFill>
          <a:ln w="12700">
            <a:solidFill>
              <a:srgbClr val="BA75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099048" y="4937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fanning in tails — model is less certain at extreme probabilities. Expected and normal.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FloodScore Intelligence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48256" cy="4041648"/>
          </a:xfrm>
          <a:prstGeom prst="roundRect">
            <a:avLst>
              <a:gd name="adj" fmla="val 4464"/>
            </a:avLst>
          </a:prstGeom>
          <a:solidFill>
            <a:srgbClr val="112B3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48256" cy="329184"/>
          </a:xfrm>
          <a:prstGeom prst="roundRect">
            <a:avLst>
              <a:gd name="adj" fmla="val 22222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Risk Assessment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8056" y="1280160"/>
            <a:ext cx="256032" cy="256032"/>
          </a:xfrm>
          <a:prstGeom prst="ellipse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61872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gauge with coloured zones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" y="1938528"/>
            <a:ext cx="256032" cy="256032"/>
          </a:xfrm>
          <a:prstGeom prst="ellipse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bar chart &amp; radar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" y="2596896"/>
            <a:ext cx="256032" cy="256032"/>
          </a:xfrm>
          <a:prstGeom prst="ellipse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578608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risk drivers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" y="3255264"/>
            <a:ext cx="256032" cy="256032"/>
          </a:xfrm>
          <a:prstGeom prst="ellipse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236976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scoring via 20 sliders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14600" y="804672"/>
            <a:ext cx="2048256" cy="4041648"/>
          </a:xfrm>
          <a:prstGeom prst="roundRect">
            <a:avLst>
              <a:gd name="adj" fmla="val 4464"/>
            </a:avLst>
          </a:prstGeom>
          <a:solidFill>
            <a:srgbClr val="112B3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14600" y="804672"/>
            <a:ext cx="2048256" cy="329184"/>
          </a:xfrm>
          <a:prstGeom prst="roundRect">
            <a:avLst>
              <a:gd name="adj" fmla="val 22222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14600" y="80467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Explainability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42616" y="1280160"/>
            <a:ext cx="256032" cy="256032"/>
          </a:xfrm>
          <a:prstGeom prst="ellipse">
            <a:avLst/>
          </a:prstGeom>
          <a:solidFill>
            <a:srgbClr val="378ADD">
              <a:alpha val="50000"/>
            </a:srgbClr>
          </a:solidFill>
          <a:ln w="12700">
            <a:solidFill>
              <a:srgbClr val="378A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71800" y="1261872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per prediction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42616" y="1938528"/>
            <a:ext cx="256032" cy="256032"/>
          </a:xfrm>
          <a:prstGeom prst="ellipse">
            <a:avLst/>
          </a:prstGeom>
          <a:solidFill>
            <a:srgbClr val="378ADD">
              <a:alpha val="50000"/>
            </a:srgbClr>
          </a:solidFill>
          <a:ln w="12700">
            <a:solidFill>
              <a:srgbClr val="378A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71800" y="1920240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contribution table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42616" y="2596896"/>
            <a:ext cx="256032" cy="256032"/>
          </a:xfrm>
          <a:prstGeom prst="ellipse">
            <a:avLst/>
          </a:prstGeom>
          <a:solidFill>
            <a:srgbClr val="378ADD">
              <a:alpha val="50000"/>
            </a:srgbClr>
          </a:solidFill>
          <a:ln w="12700">
            <a:solidFill>
              <a:srgbClr val="378A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71800" y="2578608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↑ risk or ↓ risk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42616" y="3255264"/>
            <a:ext cx="256032" cy="256032"/>
          </a:xfrm>
          <a:prstGeom prst="ellipse">
            <a:avLst/>
          </a:prstGeom>
          <a:solidFill>
            <a:srgbClr val="378ADD">
              <a:alpha val="50000"/>
            </a:srgbClr>
          </a:solidFill>
          <a:ln w="12700">
            <a:solidFill>
              <a:srgbClr val="378A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71800" y="3236976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804672"/>
            <a:ext cx="2048256" cy="4041648"/>
          </a:xfrm>
          <a:prstGeom prst="roundRect">
            <a:avLst>
              <a:gd name="adj" fmla="val 4464"/>
            </a:avLst>
          </a:prstGeom>
          <a:solidFill>
            <a:srgbClr val="112B3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804672"/>
            <a:ext cx="2048256" cy="329184"/>
          </a:xfrm>
          <a:prstGeom prst="roundRect">
            <a:avLst>
              <a:gd name="adj" fmla="val 22222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80467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Insurance View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37176" y="1280160"/>
            <a:ext cx="256032" cy="256032"/>
          </a:xfrm>
          <a:prstGeom prst="ellipse">
            <a:avLst/>
          </a:prstGeom>
          <a:solidFill>
            <a:srgbClr val="D85A30">
              <a:alpha val="50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66360" y="1261872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decision card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37176" y="1938528"/>
            <a:ext cx="256032" cy="256032"/>
          </a:xfrm>
          <a:prstGeom prst="ellipse">
            <a:avLst/>
          </a:prstGeom>
          <a:solidFill>
            <a:srgbClr val="D85A30">
              <a:alpha val="50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1920240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loading multiplier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37176" y="2596896"/>
            <a:ext cx="256032" cy="256032"/>
          </a:xfrm>
          <a:prstGeom prst="ellipse">
            <a:avLst/>
          </a:prstGeom>
          <a:solidFill>
            <a:srgbClr val="D85A30">
              <a:alpha val="50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66360" y="2578608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comparison bar chart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37176" y="3255264"/>
            <a:ext cx="256032" cy="256032"/>
          </a:xfrm>
          <a:prstGeom prst="ellipse">
            <a:avLst/>
          </a:prstGeom>
          <a:solidFill>
            <a:srgbClr val="D85A30">
              <a:alpha val="50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66360" y="3236976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measures table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03720" y="804672"/>
            <a:ext cx="2048256" cy="4041648"/>
          </a:xfrm>
          <a:prstGeom prst="roundRect">
            <a:avLst>
              <a:gd name="adj" fmla="val 4464"/>
            </a:avLst>
          </a:prstGeom>
          <a:solidFill>
            <a:srgbClr val="112B3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903720" y="804672"/>
            <a:ext cx="2048256" cy="329184"/>
          </a:xfrm>
          <a:prstGeom prst="roundRect">
            <a:avLst>
              <a:gd name="adj" fmla="val 22222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03720" y="80467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About Model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031736" y="1280160"/>
            <a:ext cx="256032" cy="256032"/>
          </a:xfrm>
          <a:prstGeom prst="ellipse">
            <a:avLst/>
          </a:prstGeom>
          <a:solidFill>
            <a:srgbClr val="7F77DD">
              <a:alpha val="50000"/>
            </a:srgbClr>
          </a:solidFill>
          <a:ln w="12700">
            <a:solidFill>
              <a:srgbClr val="7F77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60920" y="1261872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card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031736" y="1938528"/>
            <a:ext cx="256032" cy="256032"/>
          </a:xfrm>
          <a:prstGeom prst="ellipse">
            <a:avLst/>
          </a:prstGeom>
          <a:solidFill>
            <a:srgbClr val="7F77DD">
              <a:alpha val="50000"/>
            </a:srgbClr>
          </a:solidFill>
          <a:ln w="12700">
            <a:solidFill>
              <a:srgbClr val="7F77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60920" y="1920240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31736" y="2596896"/>
            <a:ext cx="256032" cy="256032"/>
          </a:xfrm>
          <a:prstGeom prst="ellipse">
            <a:avLst/>
          </a:prstGeom>
          <a:solidFill>
            <a:srgbClr val="7F77DD">
              <a:alpha val="50000"/>
            </a:srgbClr>
          </a:solidFill>
          <a:ln w="12700">
            <a:solidFill>
              <a:srgbClr val="7F77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360920" y="2578608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summary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031736" y="3255264"/>
            <a:ext cx="256032" cy="256032"/>
          </a:xfrm>
          <a:prstGeom prst="ellipse">
            <a:avLst/>
          </a:prstGeom>
          <a:solidFill>
            <a:srgbClr val="7F77DD">
              <a:alpha val="50000"/>
            </a:srgbClr>
          </a:solidFill>
          <a:ln w="12700">
            <a:solidFill>
              <a:srgbClr val="7F77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360920" y="3236976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 + limitations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4919472"/>
            <a:ext cx="8503920" cy="256032"/>
          </a:xfrm>
          <a:prstGeom prst="roundRect">
            <a:avLst>
              <a:gd name="adj" fmla="val 21429"/>
            </a:avLst>
          </a:prstGeom>
          <a:solidFill>
            <a:srgbClr val="0D2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" y="4919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streamlit xgboost shap plotly pandas numpy     →     $ streamlit run app_v2.py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378ADD">
              <a:alpha val="10000"/>
            </a:srgbClr>
          </a:solidFill>
          <a:ln w="12700">
            <a:solidFill>
              <a:srgbClr val="378ADD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4160520" cy="1335024"/>
          </a:xfrm>
          <a:prstGeom prst="roundRect">
            <a:avLst>
              <a:gd name="adj" fmla="val 6849"/>
            </a:avLst>
          </a:prstGeom>
          <a:solidFill>
            <a:srgbClr val="11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3776" y="969264"/>
            <a:ext cx="402336" cy="40233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" y="969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91440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is the headline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1298448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TotalRiskScore (sum of 20 features) achieves r=0.93 vs r=0.19 for the best individual feature. Signal aggregation cancels noise — the key insight of this project.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41248"/>
            <a:ext cx="4160520" cy="1335024"/>
          </a:xfrm>
          <a:prstGeom prst="roundRect">
            <a:avLst>
              <a:gd name="adj" fmla="val 6849"/>
            </a:avLst>
          </a:prstGeom>
          <a:solidFill>
            <a:srgbClr val="11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82896" y="969264"/>
            <a:ext cx="402336" cy="402336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82896" y="969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76672" y="91440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&gt; linear &gt; neural net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76672" y="1298448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inter-feature correlations mean XGBoost/RF outperform Ridge (R² gap: 0.845→0.867). MLP underperforms on this tabular problem — a known empirical pattern.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160520" cy="1335024"/>
          </a:xfrm>
          <a:prstGeom prst="roundRect">
            <a:avLst>
              <a:gd name="adj" fmla="val 6849"/>
            </a:avLst>
          </a:prstGeom>
          <a:solidFill>
            <a:srgbClr val="11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414016"/>
            <a:ext cx="402336" cy="40233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35915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= production readiness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7552" y="2743200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isotonic regression and verified with reliability diagram. In insurance, uncalibrated output = mispriced premium at scale. Most portfolios skip this step.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60520" cy="1335024"/>
          </a:xfrm>
          <a:prstGeom prst="roundRect">
            <a:avLst>
              <a:gd name="adj" fmla="val 6849"/>
            </a:avLst>
          </a:prstGeom>
          <a:solidFill>
            <a:srgbClr val="11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82896" y="2414016"/>
            <a:ext cx="402336" cy="402336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82896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76672" y="235915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= explainability + regulation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76672" y="2743200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satisfies the EU GDPR right to explanation for automated decisions. Per-prediction waterfall chart is what a production underwriting dashboard uses.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30752"/>
            <a:ext cx="4160520" cy="1335024"/>
          </a:xfrm>
          <a:prstGeom prst="roundRect">
            <a:avLst>
              <a:gd name="adj" fmla="val 6849"/>
            </a:avLst>
          </a:prstGeom>
          <a:solidFill>
            <a:srgbClr val="11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76" y="3858768"/>
            <a:ext cx="402336" cy="40233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380390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= deployable product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87552" y="418795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4-tab Streamlit app with underwriting decision, scenario comparison, mitigation table, and full model card. Demo-ready and deployable in one command.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730752"/>
            <a:ext cx="4160520" cy="1335024"/>
          </a:xfrm>
          <a:prstGeom prst="roundRect">
            <a:avLst>
              <a:gd name="adj" fmla="val 6849"/>
            </a:avLst>
          </a:prstGeom>
          <a:solidFill>
            <a:srgbClr val="11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82896" y="385876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82896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76672" y="380390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framing = career positioning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76672" y="418795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Stage 1 of a catastrophe model — the hazard layer used by RMS, AIR, Swiss Re, Munich Re. The framing connects directly to cat modelling, underwriting, and climate risk roles.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S4E5  ·  Models: Ridge · RF · XGBoost · MLP  ·  Tools: Python · sklearn · XGBoost · SHAP · Optuna · Streamlit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9480D8-A9C8-2677-70D7-6FE91089AFF0}"/>
              </a:ext>
            </a:extLst>
          </p:cNvPr>
          <p:cNvSpPr txBox="1"/>
          <p:nvPr/>
        </p:nvSpPr>
        <p:spPr>
          <a:xfrm>
            <a:off x="384464" y="1943100"/>
            <a:ext cx="9749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LINK TO REPOSITORY</a:t>
            </a:r>
          </a:p>
          <a:p>
            <a:endParaRPr lang="en-US" dirty="0"/>
          </a:p>
          <a:p>
            <a:r>
              <a:rPr lang="en-US" dirty="0"/>
              <a:t> https://github.com/s26-redi-ml-ai/Machine-Learning-for-flood-Probability-Prediction.git</a:t>
            </a:r>
          </a:p>
        </p:txBody>
      </p:sp>
    </p:spTree>
    <p:extLst>
      <p:ext uri="{BB962C8B-B14F-4D97-AF65-F5344CB8AC3E}">
        <p14:creationId xmlns:p14="http://schemas.microsoft.com/office/powerpoint/2010/main" val="2568687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2924</Words>
  <Application>Microsoft Office PowerPoint</Application>
  <PresentationFormat>On-screen Show (16:9)</PresentationFormat>
  <Paragraphs>385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 Risk Scoring — Complete ML Portfolio</dc:title>
  <dc:subject>PptxGenJS Presentation</dc:subject>
  <dc:creator>Ash</dc:creator>
  <cp:lastModifiedBy>Adesina, Morenike Oluwabunmi</cp:lastModifiedBy>
  <cp:revision>2</cp:revision>
  <dcterms:created xsi:type="dcterms:W3CDTF">2026-06-14T19:30:22Z</dcterms:created>
  <dcterms:modified xsi:type="dcterms:W3CDTF">2026-06-15T14:33:53Z</dcterms:modified>
</cp:coreProperties>
</file>